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3"/>
  </p:notesMasterIdLst>
  <p:sldIdLst>
    <p:sldId id="256" r:id="rId2"/>
  </p:sldIdLst>
  <p:sldSz cx="9144000" cy="6858000" type="screen4x3"/>
  <p:notesSz cx="9144000" cy="6858000"/>
  <p:defaultTextStyle>
    <a:defPPr>
      <a:defRPr lang="ar-DZ"/>
    </a:defPPr>
    <a:lvl1pPr marL="0" algn="r" defTabSz="768054" rtl="1" eaLnBrk="1" latinLnBrk="0" hangingPunct="1">
      <a:defRPr sz="1506" kern="1200">
        <a:solidFill>
          <a:schemeClr val="tx1"/>
        </a:solidFill>
        <a:latin typeface="+mn-lt"/>
        <a:ea typeface="+mn-ea"/>
        <a:cs typeface="+mn-cs"/>
      </a:defRPr>
    </a:lvl1pPr>
    <a:lvl2pPr marL="384027" algn="r" defTabSz="768054" rtl="1" eaLnBrk="1" latinLnBrk="0" hangingPunct="1">
      <a:defRPr sz="1506" kern="1200">
        <a:solidFill>
          <a:schemeClr val="tx1"/>
        </a:solidFill>
        <a:latin typeface="+mn-lt"/>
        <a:ea typeface="+mn-ea"/>
        <a:cs typeface="+mn-cs"/>
      </a:defRPr>
    </a:lvl2pPr>
    <a:lvl3pPr marL="768054" algn="r" defTabSz="768054" rtl="1" eaLnBrk="1" latinLnBrk="0" hangingPunct="1">
      <a:defRPr sz="1506" kern="1200">
        <a:solidFill>
          <a:schemeClr val="tx1"/>
        </a:solidFill>
        <a:latin typeface="+mn-lt"/>
        <a:ea typeface="+mn-ea"/>
        <a:cs typeface="+mn-cs"/>
      </a:defRPr>
    </a:lvl3pPr>
    <a:lvl4pPr marL="1152081" algn="r" defTabSz="768054" rtl="1" eaLnBrk="1" latinLnBrk="0" hangingPunct="1">
      <a:defRPr sz="1506" kern="1200">
        <a:solidFill>
          <a:schemeClr val="tx1"/>
        </a:solidFill>
        <a:latin typeface="+mn-lt"/>
        <a:ea typeface="+mn-ea"/>
        <a:cs typeface="+mn-cs"/>
      </a:defRPr>
    </a:lvl4pPr>
    <a:lvl5pPr marL="1536108" algn="r" defTabSz="768054" rtl="1" eaLnBrk="1" latinLnBrk="0" hangingPunct="1">
      <a:defRPr sz="1506" kern="1200">
        <a:solidFill>
          <a:schemeClr val="tx1"/>
        </a:solidFill>
        <a:latin typeface="+mn-lt"/>
        <a:ea typeface="+mn-ea"/>
        <a:cs typeface="+mn-cs"/>
      </a:defRPr>
    </a:lvl5pPr>
    <a:lvl6pPr marL="1920134" algn="r" defTabSz="768054" rtl="1" eaLnBrk="1" latinLnBrk="0" hangingPunct="1">
      <a:defRPr sz="1506" kern="1200">
        <a:solidFill>
          <a:schemeClr val="tx1"/>
        </a:solidFill>
        <a:latin typeface="+mn-lt"/>
        <a:ea typeface="+mn-ea"/>
        <a:cs typeface="+mn-cs"/>
      </a:defRPr>
    </a:lvl6pPr>
    <a:lvl7pPr marL="2304161" algn="r" defTabSz="768054" rtl="1" eaLnBrk="1" latinLnBrk="0" hangingPunct="1">
      <a:defRPr sz="1506" kern="1200">
        <a:solidFill>
          <a:schemeClr val="tx1"/>
        </a:solidFill>
        <a:latin typeface="+mn-lt"/>
        <a:ea typeface="+mn-ea"/>
        <a:cs typeface="+mn-cs"/>
      </a:defRPr>
    </a:lvl7pPr>
    <a:lvl8pPr marL="2688188" algn="r" defTabSz="768054" rtl="1" eaLnBrk="1" latinLnBrk="0" hangingPunct="1">
      <a:defRPr sz="1506" kern="1200">
        <a:solidFill>
          <a:schemeClr val="tx1"/>
        </a:solidFill>
        <a:latin typeface="+mn-lt"/>
        <a:ea typeface="+mn-ea"/>
        <a:cs typeface="+mn-cs"/>
      </a:defRPr>
    </a:lvl8pPr>
    <a:lvl9pPr marL="3072215" algn="r" defTabSz="768054" rtl="1" eaLnBrk="1" latinLnBrk="0" hangingPunct="1">
      <a:defRPr sz="1506"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aximized" horzBarState="maximized">
    <p:restoredLeft sz="65395" autoAdjust="0"/>
    <p:restoredTop sz="86423" autoAdjust="0"/>
  </p:normalViewPr>
  <p:slideViewPr>
    <p:cSldViewPr snapToGrid="0">
      <p:cViewPr>
        <p:scale>
          <a:sx n="75" d="100"/>
          <a:sy n="75" d="100"/>
        </p:scale>
        <p:origin x="-1616" y="20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F3A753BC-CD39-4E6C-9F66-F64AF4CBE1A0}" type="datetimeFigureOut">
              <a:rPr lang="fr-FR" smtClean="0"/>
              <a:t>15/10/2025</a:t>
            </a:fld>
            <a:endParaRPr lang="fr-FR" dirty="0"/>
          </a:p>
        </p:txBody>
      </p:sp>
      <p:sp>
        <p:nvSpPr>
          <p:cNvPr id="4" name="Espace réservé de l'image des diapositives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D1889EF-7023-4253-B000-12029AE89697}" type="slidenum">
              <a:rPr lang="fr-FR" smtClean="0"/>
              <a:t>‹N°›</a:t>
            </a:fld>
            <a:endParaRPr lang="fr-FR" dirty="0"/>
          </a:p>
        </p:txBody>
      </p:sp>
    </p:spTree>
    <p:extLst>
      <p:ext uri="{BB962C8B-B14F-4D97-AF65-F5344CB8AC3E}">
        <p14:creationId xmlns:p14="http://schemas.microsoft.com/office/powerpoint/2010/main" val="248611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11"/>
          </p:nvPr>
        </p:nvSpPr>
        <p:spPr/>
        <p:txBody>
          <a:bodyPr/>
          <a:lstStyle/>
          <a:p>
            <a:endParaRPr lang="ar-DZ" dirty="0"/>
          </a:p>
        </p:txBody>
      </p:sp>
      <p:sp>
        <p:nvSpPr>
          <p:cNvPr id="6" name="Slide Number Placeholder 5"/>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4143613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11"/>
          </p:nvPr>
        </p:nvSpPr>
        <p:spPr/>
        <p:txBody>
          <a:bodyPr/>
          <a:lstStyle/>
          <a:p>
            <a:endParaRPr lang="ar-DZ" dirty="0"/>
          </a:p>
        </p:txBody>
      </p:sp>
      <p:sp>
        <p:nvSpPr>
          <p:cNvPr id="6" name="Slide Number Placeholder 5"/>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1521101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11"/>
          </p:nvPr>
        </p:nvSpPr>
        <p:spPr/>
        <p:txBody>
          <a:bodyPr/>
          <a:lstStyle/>
          <a:p>
            <a:endParaRPr lang="ar-DZ" dirty="0"/>
          </a:p>
        </p:txBody>
      </p:sp>
      <p:sp>
        <p:nvSpPr>
          <p:cNvPr id="6" name="Slide Number Placeholder 5"/>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137948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6" name="Footer Placeholder 5"/>
          <p:cNvSpPr>
            <a:spLocks noGrp="1"/>
          </p:cNvSpPr>
          <p:nvPr>
            <p:ph type="ftr" sz="quarter" idx="11"/>
          </p:nvPr>
        </p:nvSpPr>
        <p:spPr/>
        <p:txBody>
          <a:bodyPr/>
          <a:lstStyle/>
          <a:p>
            <a:endParaRPr lang="ar-DZ" dirty="0"/>
          </a:p>
        </p:txBody>
      </p:sp>
      <p:sp>
        <p:nvSpPr>
          <p:cNvPr id="7" name="Slide Number Placeholder 6"/>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3901870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8" name="Footer Placeholder 7"/>
          <p:cNvSpPr>
            <a:spLocks noGrp="1"/>
          </p:cNvSpPr>
          <p:nvPr>
            <p:ph type="ftr" sz="quarter" idx="11"/>
          </p:nvPr>
        </p:nvSpPr>
        <p:spPr/>
        <p:txBody>
          <a:bodyPr/>
          <a:lstStyle/>
          <a:p>
            <a:endParaRPr lang="ar-DZ" dirty="0"/>
          </a:p>
        </p:txBody>
      </p:sp>
      <p:sp>
        <p:nvSpPr>
          <p:cNvPr id="9" name="Slide Number Placeholder 8"/>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335007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4" name="Footer Placeholder 3"/>
          <p:cNvSpPr>
            <a:spLocks noGrp="1"/>
          </p:cNvSpPr>
          <p:nvPr>
            <p:ph type="ftr" sz="quarter" idx="11"/>
          </p:nvPr>
        </p:nvSpPr>
        <p:spPr/>
        <p:txBody>
          <a:bodyPr/>
          <a:lstStyle/>
          <a:p>
            <a:endParaRPr lang="ar-DZ" dirty="0"/>
          </a:p>
        </p:txBody>
      </p:sp>
      <p:sp>
        <p:nvSpPr>
          <p:cNvPr id="5" name="Slide Number Placeholder 4"/>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4192813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3" name="Footer Placeholder 2"/>
          <p:cNvSpPr>
            <a:spLocks noGrp="1"/>
          </p:cNvSpPr>
          <p:nvPr>
            <p:ph type="ftr" sz="quarter" idx="11"/>
          </p:nvPr>
        </p:nvSpPr>
        <p:spPr/>
        <p:txBody>
          <a:bodyPr/>
          <a:lstStyle/>
          <a:p>
            <a:endParaRPr lang="ar-DZ" dirty="0"/>
          </a:p>
        </p:txBody>
      </p:sp>
      <p:sp>
        <p:nvSpPr>
          <p:cNvPr id="4" name="Slide Number Placeholder 3"/>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3648710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6" name="Footer Placeholder 5"/>
          <p:cNvSpPr>
            <a:spLocks noGrp="1"/>
          </p:cNvSpPr>
          <p:nvPr>
            <p:ph type="ftr" sz="quarter" idx="11"/>
          </p:nvPr>
        </p:nvSpPr>
        <p:spPr/>
        <p:txBody>
          <a:bodyPr/>
          <a:lstStyle/>
          <a:p>
            <a:endParaRPr lang="ar-DZ" dirty="0"/>
          </a:p>
        </p:txBody>
      </p:sp>
      <p:sp>
        <p:nvSpPr>
          <p:cNvPr id="7" name="Slide Number Placeholder 6"/>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234667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6" name="Footer Placeholder 5"/>
          <p:cNvSpPr>
            <a:spLocks noGrp="1"/>
          </p:cNvSpPr>
          <p:nvPr>
            <p:ph type="ftr" sz="quarter" idx="11"/>
          </p:nvPr>
        </p:nvSpPr>
        <p:spPr/>
        <p:txBody>
          <a:bodyPr/>
          <a:lstStyle/>
          <a:p>
            <a:endParaRPr lang="ar-DZ" dirty="0"/>
          </a:p>
        </p:txBody>
      </p:sp>
      <p:sp>
        <p:nvSpPr>
          <p:cNvPr id="7" name="Slide Number Placeholder 6"/>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1370396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11"/>
          </p:nvPr>
        </p:nvSpPr>
        <p:spPr/>
        <p:txBody>
          <a:bodyPr/>
          <a:lstStyle/>
          <a:p>
            <a:endParaRPr lang="ar-DZ" dirty="0"/>
          </a:p>
        </p:txBody>
      </p:sp>
      <p:sp>
        <p:nvSpPr>
          <p:cNvPr id="6" name="Slide Number Placeholder 5"/>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2844632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11"/>
          </p:nvPr>
        </p:nvSpPr>
        <p:spPr/>
        <p:txBody>
          <a:bodyPr/>
          <a:lstStyle/>
          <a:p>
            <a:endParaRPr lang="ar-DZ" dirty="0"/>
          </a:p>
        </p:txBody>
      </p:sp>
      <p:sp>
        <p:nvSpPr>
          <p:cNvPr id="6" name="Slide Number Placeholder 5"/>
          <p:cNvSpPr>
            <a:spLocks noGrp="1"/>
          </p:cNvSpPr>
          <p:nvPr>
            <p:ph type="sldNum" sz="quarter" idx="12"/>
          </p:nvPr>
        </p:nvSpPr>
        <p:spPr/>
        <p:txBody>
          <a:body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1893072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0046FC-6FF4-4C63-A934-D847973C542C}" type="datetimeFigureOut">
              <a:rPr lang="ar-DZ" smtClean="0"/>
              <a:pPr/>
              <a:t>23-04-1447</a:t>
            </a:fld>
            <a:endParaRPr lang="ar-DZ"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DZ"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90FDB5-1FE9-4968-9A8F-292EDE1C9FB6}" type="slidenum">
              <a:rPr lang="ar-DZ" smtClean="0"/>
              <a:pPr/>
              <a:t>‹N°›</a:t>
            </a:fld>
            <a:endParaRPr lang="ar-DZ" dirty="0"/>
          </a:p>
        </p:txBody>
      </p:sp>
    </p:spTree>
    <p:extLst>
      <p:ext uri="{BB962C8B-B14F-4D97-AF65-F5344CB8AC3E}">
        <p14:creationId xmlns:p14="http://schemas.microsoft.com/office/powerpoint/2010/main" val="708544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71" y="5080659"/>
            <a:ext cx="9152972" cy="1232881"/>
          </a:xfrm>
          <a:prstGeom prst="roundRect">
            <a:avLst/>
          </a:prstGeom>
          <a:gradFill>
            <a:gsLst>
              <a:gs pos="0">
                <a:schemeClr val="accent2">
                  <a:satMod val="105000"/>
                  <a:tint val="67000"/>
                  <a:alpha val="0"/>
                  <a:lumMod val="0"/>
                  <a:lumOff val="100000"/>
                </a:schemeClr>
              </a:gs>
              <a:gs pos="99000">
                <a:schemeClr val="accent2">
                  <a:lumMod val="20000"/>
                  <a:lumOff val="80000"/>
                </a:schemeClr>
              </a:gs>
            </a:gsLst>
          </a:gradFill>
        </p:spPr>
        <p:style>
          <a:lnRef idx="1">
            <a:schemeClr val="accent2"/>
          </a:lnRef>
          <a:fillRef idx="2">
            <a:schemeClr val="accent2"/>
          </a:fillRef>
          <a:effectRef idx="1">
            <a:schemeClr val="accent2"/>
          </a:effectRef>
          <a:fontRef idx="minor">
            <a:schemeClr val="dk1"/>
          </a:fontRef>
        </p:style>
        <p:txBody>
          <a:bodyPr wrap="square" lIns="311079" tIns="155539" rIns="311079" bIns="155539" rtlCol="1">
            <a:spAutoFit/>
          </a:bodyPr>
          <a:lstStyle/>
          <a:p>
            <a:pPr algn="l" rtl="0"/>
            <a:r>
              <a:rPr lang="en-US" sz="1400" b="1" dirty="0" smtClean="0"/>
              <a:t>Conclusion</a:t>
            </a:r>
          </a:p>
          <a:p>
            <a:pPr algn="l" rtl="0"/>
            <a:r>
              <a:rPr lang="en-US" sz="1400" b="1" dirty="0" smtClean="0"/>
              <a:t>  </a:t>
            </a:r>
            <a:r>
              <a:rPr lang="fr-FR" sz="1200" dirty="0" smtClean="0"/>
              <a:t>l’adrénaline</a:t>
            </a:r>
            <a:r>
              <a:rPr lang="fr-FR" sz="1200" dirty="0"/>
              <a:t>, ou épinéphrine, est une hormone clé du stress qui illustre l’interaction étroite entre le système nerveux et le </a:t>
            </a:r>
            <a:r>
              <a:rPr lang="fr-FR" sz="1200" dirty="0" smtClean="0"/>
              <a:t>système endocrinien</a:t>
            </a:r>
            <a:r>
              <a:rPr lang="fr-FR" sz="1200" dirty="0"/>
              <a:t>. Produite par la médullosurrénale, elle prépare l’organisme à réagir rapidement face au danger en mobilisant ses ressources énergétiques et physiologiques.</a:t>
            </a:r>
            <a:r>
              <a:rPr lang="en-US" sz="1200" b="1" dirty="0" smtClean="0"/>
              <a:t> </a:t>
            </a:r>
            <a:endParaRPr lang="en-US" sz="1000" dirty="0"/>
          </a:p>
        </p:txBody>
      </p:sp>
      <p:sp>
        <p:nvSpPr>
          <p:cNvPr id="8" name="TextBox 7"/>
          <p:cNvSpPr txBox="1"/>
          <p:nvPr/>
        </p:nvSpPr>
        <p:spPr>
          <a:xfrm>
            <a:off x="-8972" y="642985"/>
            <a:ext cx="6858001" cy="1607452"/>
          </a:xfrm>
          <a:prstGeom prst="roundRect">
            <a:avLst/>
          </a:prstGeom>
          <a:solidFill>
            <a:schemeClr val="tx2">
              <a:lumMod val="20000"/>
              <a:lumOff val="80000"/>
              <a:alpha val="15000"/>
            </a:schemeClr>
          </a:solidFill>
          <a:ln>
            <a:solidFill>
              <a:srgbClr val="0070C0"/>
            </a:solidFill>
          </a:ln>
        </p:spPr>
        <p:style>
          <a:lnRef idx="1">
            <a:schemeClr val="accent2"/>
          </a:lnRef>
          <a:fillRef idx="2">
            <a:schemeClr val="accent2"/>
          </a:fillRef>
          <a:effectRef idx="1">
            <a:schemeClr val="accent2"/>
          </a:effectRef>
          <a:fontRef idx="minor">
            <a:schemeClr val="dk1"/>
          </a:fontRef>
        </p:style>
        <p:txBody>
          <a:bodyPr wrap="square" lIns="311079" tIns="155539" rIns="311079" bIns="155539" rtlCol="1">
            <a:spAutoFit/>
          </a:bodyPr>
          <a:lstStyle/>
          <a:p>
            <a:pPr algn="l"/>
            <a:r>
              <a:rPr lang="fr-FR" sz="1400" b="1" dirty="0" smtClean="0">
                <a:cs typeface="+mj-cs"/>
              </a:rPr>
              <a:t>Introduction</a:t>
            </a:r>
            <a:endParaRPr lang="fr-FR" sz="1400" b="1" dirty="0">
              <a:cs typeface="+mj-cs"/>
            </a:endParaRPr>
          </a:p>
          <a:p>
            <a:pPr algn="l"/>
            <a:r>
              <a:rPr lang="fr-FR" sz="1200" b="1" dirty="0"/>
              <a:t>Adrénaline</a:t>
            </a:r>
            <a:r>
              <a:rPr lang="fr-FR" sz="1200" dirty="0"/>
              <a:t> et </a:t>
            </a:r>
            <a:r>
              <a:rPr lang="fr-FR" sz="1200" b="1" dirty="0"/>
              <a:t>épinéphrine</a:t>
            </a:r>
            <a:r>
              <a:rPr lang="fr-FR" sz="1200" dirty="0"/>
              <a:t> désignent </a:t>
            </a:r>
            <a:r>
              <a:rPr lang="fr-FR" sz="1200" b="1" dirty="0"/>
              <a:t>la même substance</a:t>
            </a:r>
            <a:r>
              <a:rPr lang="fr-FR" sz="1200" dirty="0" smtClean="0"/>
              <a:t>.</a:t>
            </a:r>
          </a:p>
          <a:p>
            <a:pPr algn="l"/>
            <a:r>
              <a:rPr lang="fr-FR" sz="1200" b="1" dirty="0" smtClean="0"/>
              <a:t> Adrénaline</a:t>
            </a:r>
            <a:r>
              <a:rPr lang="fr-FR" sz="1200" dirty="0" smtClean="0"/>
              <a:t> </a:t>
            </a:r>
            <a:r>
              <a:rPr lang="fr-FR" sz="1200" dirty="0"/>
              <a:t>→ nom d’usage courant (surtout </a:t>
            </a:r>
            <a:r>
              <a:rPr lang="fr-FR" sz="1200" dirty="0" smtClean="0"/>
              <a:t>en </a:t>
            </a:r>
            <a:r>
              <a:rPr lang="fr-FR" sz="1200" dirty="0"/>
              <a:t>Europe).</a:t>
            </a:r>
          </a:p>
          <a:p>
            <a:pPr lvl="0" algn="l"/>
            <a:r>
              <a:rPr lang="fr-FR" sz="1200" dirty="0" smtClean="0"/>
              <a:t> </a:t>
            </a:r>
            <a:r>
              <a:rPr lang="fr-FR" sz="1200" b="1" dirty="0" smtClean="0"/>
              <a:t>Épinéphrine (Epinéphrine)</a:t>
            </a:r>
            <a:r>
              <a:rPr lang="fr-FR" sz="1200" dirty="0" smtClean="0"/>
              <a:t> </a:t>
            </a:r>
            <a:r>
              <a:rPr lang="fr-FR" sz="1200" dirty="0"/>
              <a:t>→ nom scientifique ou pharmaceutique officiel (utilisé dans la </a:t>
            </a:r>
            <a:endParaRPr lang="fr-FR" sz="1200" dirty="0" smtClean="0"/>
          </a:p>
          <a:p>
            <a:pPr lvl="0" algn="l"/>
            <a:r>
              <a:rPr lang="fr-FR" sz="1200" dirty="0" smtClean="0"/>
              <a:t>pharmacopée </a:t>
            </a:r>
            <a:r>
              <a:rPr lang="fr-FR" sz="1200" dirty="0"/>
              <a:t>internationale et en médecine </a:t>
            </a:r>
            <a:r>
              <a:rPr lang="fr-FR" sz="1200" dirty="0" smtClean="0"/>
              <a:t>moderne) est </a:t>
            </a:r>
            <a:r>
              <a:rPr lang="fr-FR" sz="1200" dirty="0"/>
              <a:t>une </a:t>
            </a:r>
            <a:r>
              <a:rPr lang="fr-FR" sz="1200" b="1" dirty="0"/>
              <a:t>hormone et un neurotransmetteur</a:t>
            </a:r>
            <a:r>
              <a:rPr lang="fr-FR" sz="1200" dirty="0"/>
              <a:t> sécrété par la </a:t>
            </a:r>
            <a:r>
              <a:rPr lang="fr-FR" sz="1200" b="1" dirty="0"/>
              <a:t>médullosurrénale</a:t>
            </a:r>
            <a:r>
              <a:rPr lang="fr-FR" sz="1200" dirty="0"/>
              <a:t> (la partie interne des glandes surrénales</a:t>
            </a:r>
            <a:r>
              <a:rPr lang="fr-FR" sz="1200" dirty="0" smtClean="0"/>
              <a:t>).</a:t>
            </a:r>
            <a:endParaRPr lang="fr-FR" sz="1200" dirty="0"/>
          </a:p>
        </p:txBody>
      </p:sp>
      <p:sp>
        <p:nvSpPr>
          <p:cNvPr id="11" name="Rectangle 10"/>
          <p:cNvSpPr/>
          <p:nvPr/>
        </p:nvSpPr>
        <p:spPr>
          <a:xfrm>
            <a:off x="2492" y="-6809"/>
            <a:ext cx="9130045" cy="584775"/>
          </a:xfrm>
          <a:prstGeom prst="rect">
            <a:avLst/>
          </a:prstGeom>
          <a:ln/>
        </p:spPr>
        <p:style>
          <a:lnRef idx="0">
            <a:schemeClr val="accent1"/>
          </a:lnRef>
          <a:fillRef idx="3">
            <a:schemeClr val="accent1"/>
          </a:fillRef>
          <a:effectRef idx="3">
            <a:schemeClr val="accent1"/>
          </a:effectRef>
          <a:fontRef idx="minor">
            <a:schemeClr val="lt1"/>
          </a:fontRef>
        </p:style>
        <p:txBody>
          <a:bodyPr wrap="square">
            <a:spAutoFit/>
          </a:bodyPr>
          <a:lstStyle/>
          <a:p>
            <a:pPr algn="ctr" rtl="0"/>
            <a:r>
              <a:rPr lang="fr-FR" sz="2000" b="1" i="1" dirty="0" smtClean="0">
                <a:effectLst>
                  <a:outerShdw blurRad="38100" dist="38100" dir="2700000" algn="tl">
                    <a:srgbClr val="000000">
                      <a:alpha val="43137"/>
                    </a:srgbClr>
                  </a:outerShdw>
                </a:effectLst>
              </a:rPr>
              <a:t>Adrénaline Epinéphrine</a:t>
            </a:r>
            <a:endParaRPr lang="fr-FR" sz="2000" b="1" i="1" dirty="0">
              <a:effectLst>
                <a:outerShdw blurRad="38100" dist="38100" dir="2700000" algn="tl">
                  <a:srgbClr val="000000">
                    <a:alpha val="43137"/>
                  </a:srgbClr>
                </a:outerShdw>
              </a:effectLst>
              <a:cs typeface="+mj-cs"/>
            </a:endParaRPr>
          </a:p>
          <a:p>
            <a:pPr algn="ctr" rtl="0"/>
            <a:endParaRPr lang="en-US" sz="1200" dirty="0">
              <a:cs typeface="+mj-cs"/>
            </a:endParaRPr>
          </a:p>
        </p:txBody>
      </p:sp>
      <p:sp>
        <p:nvSpPr>
          <p:cNvPr id="5" name="Rectangle 4"/>
          <p:cNvSpPr/>
          <p:nvPr/>
        </p:nvSpPr>
        <p:spPr>
          <a:xfrm>
            <a:off x="6858001" y="584775"/>
            <a:ext cx="2218266" cy="1716946"/>
          </a:xfrm>
          <a:prstGeom prst="rect">
            <a:avLst/>
          </a:prstGeom>
          <a:solidFill>
            <a:schemeClr val="bg1">
              <a:lumMod val="95000"/>
              <a:alpha val="18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just" rtl="0"/>
            <a:endParaRPr lang="en-US" sz="1000" b="1" dirty="0">
              <a:solidFill>
                <a:schemeClr val="tx1"/>
              </a:solidFill>
            </a:endParaRPr>
          </a:p>
        </p:txBody>
      </p:sp>
      <p:sp>
        <p:nvSpPr>
          <p:cNvPr id="7" name="Rectangle 6"/>
          <p:cNvSpPr/>
          <p:nvPr/>
        </p:nvSpPr>
        <p:spPr>
          <a:xfrm>
            <a:off x="-3122" y="2300316"/>
            <a:ext cx="9079389" cy="2780343"/>
          </a:xfrm>
          <a:prstGeom prst="rect">
            <a:avLst/>
          </a:prstGeom>
          <a:solidFill>
            <a:schemeClr val="accent3">
              <a:lumMod val="20000"/>
              <a:lumOff val="80000"/>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en-US" sz="1000" dirty="0">
              <a:solidFill>
                <a:schemeClr val="tx1"/>
              </a:solidFill>
            </a:endParaRPr>
          </a:p>
        </p:txBody>
      </p:sp>
      <p:pic>
        <p:nvPicPr>
          <p:cNvPr id="2" name="Image 1">
            <a:extLst>
              <a:ext uri="{FF2B5EF4-FFF2-40B4-BE49-F238E27FC236}">
                <a16:creationId xmlns="" xmlns:a16="http://schemas.microsoft.com/office/drawing/2014/main" id="{CA4FA33D-BDE9-4C57-8EAE-1CF973E7A0C1}"/>
              </a:ext>
            </a:extLst>
          </p:cNvPr>
          <p:cNvPicPr>
            <a:picLocks noChangeAspect="1"/>
          </p:cNvPicPr>
          <p:nvPr/>
        </p:nvPicPr>
        <p:blipFill>
          <a:blip r:embed="rId2"/>
          <a:stretch>
            <a:fillRect/>
          </a:stretch>
        </p:blipFill>
        <p:spPr>
          <a:xfrm>
            <a:off x="0" y="-6808"/>
            <a:ext cx="936000" cy="828076"/>
          </a:xfrm>
          <a:prstGeom prst="rect">
            <a:avLst/>
          </a:prstGeom>
        </p:spPr>
      </p:pic>
      <p:sp>
        <p:nvSpPr>
          <p:cNvPr id="13" name="ZoneTexte 12"/>
          <p:cNvSpPr txBox="1"/>
          <p:nvPr/>
        </p:nvSpPr>
        <p:spPr>
          <a:xfrm>
            <a:off x="0" y="2250437"/>
            <a:ext cx="11794066" cy="2308324"/>
          </a:xfrm>
          <a:prstGeom prst="rect">
            <a:avLst/>
          </a:prstGeom>
          <a:noFill/>
        </p:spPr>
        <p:txBody>
          <a:bodyPr wrap="square" rtlCol="0">
            <a:spAutoFit/>
          </a:bodyPr>
          <a:lstStyle/>
          <a:p>
            <a:pPr lvl="8" algn="l"/>
            <a:r>
              <a:rPr lang="fr-FR" sz="1200" dirty="0" smtClean="0"/>
              <a:t>       L'adrénaline </a:t>
            </a:r>
            <a:r>
              <a:rPr lang="fr-FR" sz="1200" dirty="0"/>
              <a:t>est une hormone et un neurotransmetteur de la famille des catécholamines, chimiquement dérivée des acides aminés aromatiques, en particulier de la tyrosine. Elle est sécrétée directement dans le sang lors d'une stimulation nerveuse. L'adrénaline est produite dans les cellules de la médulla surrénale selon les étapes suivantes </a:t>
            </a:r>
            <a:r>
              <a:rPr lang="fr-FR" sz="1200" dirty="0" smtClean="0"/>
              <a:t>:</a:t>
            </a:r>
            <a:endParaRPr lang="en-CA" sz="1200" dirty="0">
              <a:solidFill>
                <a:srgbClr val="111111"/>
              </a:solidFill>
              <a:latin typeface="Roboto"/>
            </a:endParaRPr>
          </a:p>
          <a:p>
            <a:pPr marL="2916788" lvl="7" indent="-228600" algn="l">
              <a:lnSpc>
                <a:spcPct val="150000"/>
              </a:lnSpc>
              <a:buFont typeface="Courier New" pitchFamily="49" charset="0"/>
              <a:buChar char="o"/>
            </a:pPr>
            <a:r>
              <a:rPr lang="fr-FR" sz="1200" b="1" dirty="0" smtClean="0"/>
              <a:t>            Tyrosine </a:t>
            </a:r>
            <a:r>
              <a:rPr lang="fr-FR" sz="1200" b="1" dirty="0"/>
              <a:t>→ se transforme en </a:t>
            </a:r>
            <a:r>
              <a:rPr lang="fr-FR" sz="1200" b="1" dirty="0" smtClean="0"/>
              <a:t>DOPA</a:t>
            </a:r>
          </a:p>
          <a:p>
            <a:pPr marL="2916788" lvl="7" indent="-228600" algn="l">
              <a:lnSpc>
                <a:spcPct val="150000"/>
              </a:lnSpc>
              <a:buFont typeface="Courier New" pitchFamily="49" charset="0"/>
              <a:buChar char="o"/>
            </a:pPr>
            <a:r>
              <a:rPr lang="fr-FR" sz="1200" b="1" dirty="0" smtClean="0"/>
              <a:t>            DOPA </a:t>
            </a:r>
            <a:r>
              <a:rPr lang="fr-FR" sz="1200" b="1" dirty="0"/>
              <a:t>→ </a:t>
            </a:r>
            <a:r>
              <a:rPr lang="fr-FR" sz="1200" b="1" dirty="0" smtClean="0"/>
              <a:t>Dopamine</a:t>
            </a:r>
          </a:p>
          <a:p>
            <a:pPr marL="2916788" lvl="7" indent="-228600" algn="l">
              <a:lnSpc>
                <a:spcPct val="150000"/>
              </a:lnSpc>
              <a:buFont typeface="Courier New" pitchFamily="49" charset="0"/>
              <a:buChar char="o"/>
            </a:pPr>
            <a:r>
              <a:rPr lang="fr-FR" sz="1200" b="1" dirty="0" smtClean="0"/>
              <a:t>            Dopamine </a:t>
            </a:r>
            <a:r>
              <a:rPr lang="fr-FR" sz="1200" b="1" dirty="0"/>
              <a:t>→ </a:t>
            </a:r>
            <a:r>
              <a:rPr lang="fr-FR" sz="1200" b="1" dirty="0" smtClean="0"/>
              <a:t>Noradrénaline</a:t>
            </a:r>
          </a:p>
          <a:p>
            <a:pPr marL="2916788" lvl="7" indent="-228600" algn="l">
              <a:lnSpc>
                <a:spcPct val="150000"/>
              </a:lnSpc>
              <a:buFont typeface="Courier New" pitchFamily="49" charset="0"/>
              <a:buChar char="o"/>
            </a:pPr>
            <a:r>
              <a:rPr lang="fr-FR" sz="1200" b="1" dirty="0" smtClean="0"/>
              <a:t>            Noradrénaline </a:t>
            </a:r>
            <a:r>
              <a:rPr lang="fr-FR" sz="1200" b="1" dirty="0"/>
              <a:t>→ Adrénaline (par l'enzyme PNMT)</a:t>
            </a:r>
            <a:endParaRPr lang="fr-FR" sz="1200" b="1" dirty="0" smtClean="0"/>
          </a:p>
          <a:p>
            <a:pPr lvl="7" algn="l">
              <a:lnSpc>
                <a:spcPct val="150000"/>
              </a:lnSpc>
            </a:pPr>
            <a:r>
              <a:rPr lang="fr-FR" sz="1200" dirty="0"/>
              <a:t>Elle est sécrétée par la médulla de la glande surrénale, qui est la partie interne des glandes surrénales situées au-dessus des reins. Elle est rapidement libérée en réponse au stress, au </a:t>
            </a:r>
            <a:r>
              <a:rPr lang="fr-FR" sz="1200" dirty="0" smtClean="0"/>
              <a:t>danger, ou </a:t>
            </a:r>
            <a:r>
              <a:rPr lang="fr-FR" sz="1200" dirty="0"/>
              <a:t>à l'activité physique, et elle a de larges effets sur la plupart des organes du </a:t>
            </a:r>
            <a:r>
              <a:rPr lang="fr-FR" sz="1200" dirty="0" smtClean="0"/>
              <a:t>corps.</a:t>
            </a:r>
            <a:endParaRPr lang="fr-FR" sz="1200" b="1" dirty="0"/>
          </a:p>
        </p:txBody>
      </p:sp>
      <p:sp>
        <p:nvSpPr>
          <p:cNvPr id="14" name="ZoneTexte 13"/>
          <p:cNvSpPr txBox="1"/>
          <p:nvPr/>
        </p:nvSpPr>
        <p:spPr>
          <a:xfrm>
            <a:off x="35122" y="4403551"/>
            <a:ext cx="9002900" cy="677108"/>
          </a:xfrm>
          <a:prstGeom prst="rect">
            <a:avLst/>
          </a:prstGeom>
          <a:noFill/>
        </p:spPr>
        <p:txBody>
          <a:bodyPr wrap="square" rtlCol="0">
            <a:spAutoFit/>
          </a:bodyPr>
          <a:lstStyle/>
          <a:p>
            <a:pPr algn="l"/>
            <a:r>
              <a:rPr lang="fr-FR" sz="1400" b="1" dirty="0" smtClean="0"/>
              <a:t>  Rôles </a:t>
            </a:r>
            <a:r>
              <a:rPr lang="fr-FR" sz="1400" b="1" dirty="0"/>
              <a:t>principaux :</a:t>
            </a:r>
          </a:p>
          <a:p>
            <a:pPr lvl="0" algn="l"/>
            <a:r>
              <a:rPr lang="fr-FR" sz="1200" dirty="0"/>
              <a:t>Augmente la </a:t>
            </a:r>
            <a:r>
              <a:rPr lang="fr-FR" sz="1200" b="1" dirty="0"/>
              <a:t>fréquence </a:t>
            </a:r>
            <a:r>
              <a:rPr lang="fr-FR" sz="1200" b="1" dirty="0" smtClean="0"/>
              <a:t>cardiaque</a:t>
            </a:r>
            <a:r>
              <a:rPr lang="fr-FR" sz="1200" dirty="0"/>
              <a:t> </a:t>
            </a:r>
            <a:r>
              <a:rPr lang="fr-FR" sz="1200" dirty="0" smtClean="0"/>
              <a:t>, Élève </a:t>
            </a:r>
            <a:r>
              <a:rPr lang="fr-FR" sz="1200" dirty="0"/>
              <a:t>la </a:t>
            </a:r>
            <a:r>
              <a:rPr lang="fr-FR" sz="1200" b="1" dirty="0"/>
              <a:t>pression </a:t>
            </a:r>
            <a:r>
              <a:rPr lang="fr-FR" sz="1200" b="1" dirty="0" smtClean="0"/>
              <a:t>artérielle</a:t>
            </a:r>
            <a:r>
              <a:rPr lang="fr-FR" sz="1200" dirty="0"/>
              <a:t> </a:t>
            </a:r>
            <a:r>
              <a:rPr lang="fr-FR" sz="1200" dirty="0" smtClean="0"/>
              <a:t>, Dilate </a:t>
            </a:r>
            <a:r>
              <a:rPr lang="fr-FR" sz="1200" dirty="0"/>
              <a:t>les </a:t>
            </a:r>
            <a:r>
              <a:rPr lang="fr-FR" sz="1200" b="1" dirty="0"/>
              <a:t>voies </a:t>
            </a:r>
            <a:r>
              <a:rPr lang="fr-FR" sz="1200" b="1" dirty="0" smtClean="0"/>
              <a:t>respiratoires</a:t>
            </a:r>
            <a:r>
              <a:rPr lang="fr-FR" sz="1200" dirty="0"/>
              <a:t> </a:t>
            </a:r>
            <a:r>
              <a:rPr lang="fr-FR" sz="1200" dirty="0" smtClean="0"/>
              <a:t>et Prépare </a:t>
            </a:r>
            <a:r>
              <a:rPr lang="fr-FR" sz="1200" dirty="0"/>
              <a:t>le corps à la réaction de </a:t>
            </a:r>
            <a:endParaRPr lang="fr-FR" sz="1200" dirty="0" smtClean="0"/>
          </a:p>
          <a:p>
            <a:pPr lvl="0" algn="l"/>
            <a:r>
              <a:rPr lang="fr-FR" sz="1200" b="1" dirty="0" smtClean="0"/>
              <a:t>« </a:t>
            </a:r>
            <a:r>
              <a:rPr lang="fr-FR" sz="1200" b="1" dirty="0"/>
              <a:t>fuite ou combat » </a:t>
            </a:r>
            <a:r>
              <a:rPr lang="fr-FR" sz="1200" b="1" dirty="0" smtClean="0"/>
              <a:t>(</a:t>
            </a:r>
            <a:r>
              <a:rPr lang="fr-FR" sz="1200" b="1" dirty="0" smtClean="0"/>
              <a:t>fight </a:t>
            </a:r>
            <a:r>
              <a:rPr lang="fr-FR" sz="1200" b="1" dirty="0"/>
              <a:t>or flight</a:t>
            </a:r>
            <a:r>
              <a:rPr lang="fr-FR" sz="1200" b="1" dirty="0" smtClean="0"/>
              <a:t>)</a:t>
            </a:r>
            <a:endParaRPr lang="fr-FR" sz="1200" dirty="0"/>
          </a:p>
        </p:txBody>
      </p:sp>
      <p:pic>
        <p:nvPicPr>
          <p:cNvPr id="16" name="Imag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6133" y="607723"/>
            <a:ext cx="1403350" cy="773969"/>
          </a:xfrm>
          <a:prstGeom prst="rect">
            <a:avLst/>
          </a:prstGeom>
        </p:spPr>
      </p:pic>
      <p:sp>
        <p:nvSpPr>
          <p:cNvPr id="17" name="ZoneTexte 16"/>
          <p:cNvSpPr txBox="1"/>
          <p:nvPr/>
        </p:nvSpPr>
        <p:spPr>
          <a:xfrm>
            <a:off x="111967" y="6313540"/>
            <a:ext cx="8864697" cy="492443"/>
          </a:xfrm>
          <a:prstGeom prst="rect">
            <a:avLst/>
          </a:prstGeom>
          <a:noFill/>
        </p:spPr>
        <p:txBody>
          <a:bodyPr wrap="square" rtlCol="0">
            <a:spAutoFit/>
          </a:bodyPr>
          <a:lstStyle/>
          <a:p>
            <a:pPr algn="l"/>
            <a:r>
              <a:rPr lang="fr-FR" sz="1400" b="1" dirty="0" smtClean="0"/>
              <a:t>Références : </a:t>
            </a:r>
            <a:r>
              <a:rPr lang="fr-FR" sz="1200" dirty="0" smtClean="0"/>
              <a:t>Wikipédia, </a:t>
            </a:r>
            <a:r>
              <a:rPr lang="fr-FR" sz="1200" dirty="0"/>
              <a:t>article </a:t>
            </a:r>
            <a:r>
              <a:rPr lang="fr-FR" sz="1200" i="1" dirty="0"/>
              <a:t>Adrénaline  </a:t>
            </a:r>
            <a:r>
              <a:rPr lang="fr-FR" sz="1200" i="1" dirty="0" smtClean="0"/>
              <a:t>, </a:t>
            </a:r>
            <a:r>
              <a:rPr lang="fr-FR" sz="1200" dirty="0" smtClean="0"/>
              <a:t>Larousse</a:t>
            </a:r>
            <a:r>
              <a:rPr lang="fr-FR" sz="1200" dirty="0"/>
              <a:t>, article </a:t>
            </a:r>
            <a:r>
              <a:rPr lang="fr-FR" sz="1200" i="1" dirty="0" smtClean="0"/>
              <a:t>adrénaline</a:t>
            </a:r>
            <a:r>
              <a:rPr lang="fr-FR" sz="1200" dirty="0"/>
              <a:t> , </a:t>
            </a:r>
            <a:r>
              <a:rPr lang="fr-FR" sz="1200" dirty="0" smtClean="0"/>
              <a:t>Stateras </a:t>
            </a:r>
            <a:r>
              <a:rPr lang="fr-FR" sz="1200" dirty="0"/>
              <a:t>Epinéphrine , </a:t>
            </a:r>
            <a:endParaRPr lang="fr-FR" sz="1200" dirty="0" smtClean="0"/>
          </a:p>
          <a:p>
            <a:pPr algn="l"/>
            <a:r>
              <a:rPr lang="fr-FR" sz="1200" dirty="0" smtClean="0"/>
              <a:t>Drug Bank, </a:t>
            </a:r>
            <a:r>
              <a:rPr lang="fr-FR" sz="1200" dirty="0"/>
              <a:t>fiche </a:t>
            </a:r>
            <a:r>
              <a:rPr lang="fr-FR" sz="1200" i="1" dirty="0" smtClean="0"/>
              <a:t>Epinéphrine                                  </a:t>
            </a:r>
            <a:endParaRPr lang="fr-FR" sz="1200" dirty="0"/>
          </a:p>
        </p:txBody>
      </p:sp>
      <p:pic>
        <p:nvPicPr>
          <p:cNvPr id="3" name="Imag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7123" y="584776"/>
            <a:ext cx="2180021" cy="1715540"/>
          </a:xfrm>
          <a:prstGeom prst="rect">
            <a:avLst/>
          </a:prstGeom>
        </p:spPr>
      </p:pic>
      <p:sp>
        <p:nvSpPr>
          <p:cNvPr id="9" name="ZoneTexte 8"/>
          <p:cNvSpPr txBox="1"/>
          <p:nvPr/>
        </p:nvSpPr>
        <p:spPr>
          <a:xfrm>
            <a:off x="2165652" y="308167"/>
            <a:ext cx="4064505" cy="307777"/>
          </a:xfrm>
          <a:prstGeom prst="rect">
            <a:avLst/>
          </a:prstGeom>
          <a:noFill/>
        </p:spPr>
        <p:txBody>
          <a:bodyPr wrap="square" rtlCol="0">
            <a:spAutoFit/>
          </a:bodyPr>
          <a:lstStyle/>
          <a:p>
            <a:r>
              <a:rPr lang="fr-FR" sz="1400" i="1" dirty="0" smtClean="0">
                <a:solidFill>
                  <a:schemeClr val="accent3">
                    <a:lumMod val="20000"/>
                    <a:lumOff val="80000"/>
                  </a:schemeClr>
                </a:solidFill>
              </a:rPr>
              <a:t>Présente p</a:t>
            </a:r>
            <a:r>
              <a:rPr lang="en-CA" sz="1400" i="1" dirty="0" smtClean="0">
                <a:solidFill>
                  <a:schemeClr val="accent3">
                    <a:lumMod val="20000"/>
                    <a:lumOff val="80000"/>
                  </a:schemeClr>
                </a:solidFill>
              </a:rPr>
              <a:t>ar </a:t>
            </a:r>
            <a:r>
              <a:rPr lang="en-CA" sz="1400" i="1" dirty="0">
                <a:solidFill>
                  <a:schemeClr val="accent3">
                    <a:lumMod val="20000"/>
                    <a:lumOff val="80000"/>
                  </a:schemeClr>
                </a:solidFill>
              </a:rPr>
              <a:t>: Boubossela Achraf eddine </a:t>
            </a:r>
            <a:endParaRPr lang="fr-FR" sz="1400" i="1" dirty="0">
              <a:solidFill>
                <a:schemeClr val="accent3">
                  <a:lumMod val="20000"/>
                  <a:lumOff val="80000"/>
                </a:schemeClr>
              </a:solidFill>
            </a:endParaRPr>
          </a:p>
        </p:txBody>
      </p:sp>
    </p:spTree>
    <p:extLst>
      <p:ext uri="{BB962C8B-B14F-4D97-AF65-F5344CB8AC3E}">
        <p14:creationId xmlns:p14="http://schemas.microsoft.com/office/powerpoint/2010/main" val="20738226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876</TotalTime>
  <Words>306</Words>
  <Application>Microsoft Office PowerPoint</Application>
  <PresentationFormat>Affichage à l'écran (4:3)</PresentationFormat>
  <Paragraphs>20</Paragraphs>
  <Slides>1</Slides>
  <Notes>0</Notes>
  <HiddenSlides>0</HiddenSlides>
  <MMClips>0</MMClips>
  <ScaleCrop>false</ScaleCrop>
  <HeadingPairs>
    <vt:vector size="4" baseType="variant">
      <vt:variant>
        <vt:lpstr>Thème</vt:lpstr>
      </vt:variant>
      <vt:variant>
        <vt:i4>1</vt:i4>
      </vt:variant>
      <vt:variant>
        <vt:lpstr>Titres des diapositives</vt:lpstr>
      </vt:variant>
      <vt:variant>
        <vt:i4>1</vt:i4>
      </vt:variant>
    </vt:vector>
  </HeadingPairs>
  <TitlesOfParts>
    <vt:vector size="2" baseType="lpstr">
      <vt:lpstr>Office Theme</vt:lpstr>
      <vt:lpstr>Présentation PowerPoint</vt:lpstr>
    </vt:vector>
  </TitlesOfParts>
  <Company>0772230994</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bouzidi ahmed amine</dc:creator>
  <cp:lastModifiedBy>eternelstore</cp:lastModifiedBy>
  <cp:revision>53</cp:revision>
  <dcterms:created xsi:type="dcterms:W3CDTF">2017-03-13T09:38:36Z</dcterms:created>
  <dcterms:modified xsi:type="dcterms:W3CDTF">2025-10-16T05:35:54Z</dcterms:modified>
</cp:coreProperties>
</file>